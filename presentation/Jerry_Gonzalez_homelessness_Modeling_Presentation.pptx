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8" r:id="rId8"/>
    <p:sldId id="261" r:id="rId9"/>
    <p:sldId id="271" r:id="rId10"/>
    <p:sldId id="262" r:id="rId11"/>
    <p:sldId id="274" r:id="rId12"/>
    <p:sldId id="263" r:id="rId13"/>
    <p:sldId id="264" r:id="rId14"/>
    <p:sldId id="272" r:id="rId15"/>
    <p:sldId id="273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74" autoAdjust="0"/>
  </p:normalViewPr>
  <p:slideViewPr>
    <p:cSldViewPr snapToGrid="0" snapToObjects="1"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864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29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884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01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967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99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63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561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709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916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42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5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1"/>
            <a:ext cx="5618515" cy="3343730"/>
          </a:xfrm>
        </p:spPr>
        <p:txBody>
          <a:bodyPr>
            <a:normAutofit fontScale="90000"/>
          </a:bodyPr>
          <a:lstStyle/>
          <a:p>
            <a:r>
              <a:rPr sz="4900" dirty="0"/>
              <a:t>Modeling Homelessness Trends Using Community and Economic Data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t>Data Science Alliance – Progress Presentation</a:t>
            </a:r>
          </a:p>
          <a:p>
            <a:r>
              <a:t>Gerardo Gonzalez</a:t>
            </a:r>
          </a:p>
          <a:p>
            <a:r>
              <a:t>June 2,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Goal:</a:t>
            </a:r>
          </a:p>
          <a:p>
            <a:r>
              <a:rPr dirty="0"/>
              <a:t>Predict homelessness levels and trends using demographic, housing,</a:t>
            </a:r>
            <a:r>
              <a:rPr lang="en-US" dirty="0"/>
              <a:t> </a:t>
            </a:r>
            <a:r>
              <a:rPr dirty="0"/>
              <a:t>economic</a:t>
            </a:r>
            <a:r>
              <a:rPr lang="en-US" dirty="0"/>
              <a:t>, and climate</a:t>
            </a:r>
            <a:r>
              <a:rPr dirty="0"/>
              <a:t> features at the county level.</a:t>
            </a:r>
          </a:p>
          <a:p>
            <a:endParaRPr dirty="0"/>
          </a:p>
          <a:p>
            <a:r>
              <a:rPr dirty="0"/>
              <a:t>Tasks:</a:t>
            </a:r>
          </a:p>
          <a:p>
            <a:r>
              <a:rPr dirty="0"/>
              <a:t>Task 1: Exploratory Data Analysis (EDA)</a:t>
            </a:r>
          </a:p>
          <a:p>
            <a:r>
              <a:rPr dirty="0"/>
              <a:t>Task 2: Predict annual homelessness rate</a:t>
            </a:r>
          </a:p>
          <a:p>
            <a:r>
              <a:rPr dirty="0"/>
              <a:t>Task 3: Predict change in homelessness over time (including binary classification)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B8EEF5-9818-C8BE-41B8-698475FB2FD6}"/>
              </a:ext>
            </a:extLst>
          </p:cNvPr>
          <p:cNvSpPr txBox="1"/>
          <p:nvPr/>
        </p:nvSpPr>
        <p:spPr>
          <a:xfrm>
            <a:off x="1443491" y="5534816"/>
            <a:ext cx="6375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The full notebook, all model code, and visualizations are available in the GitHub repo.</a:t>
            </a:r>
          </a:p>
          <a:p>
            <a:r>
              <a:rPr lang="en-US" sz="1400" dirty="0"/>
              <a:t>Link: https://github.com/gonz-ga-ds/DSA_project.git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 – 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dirty="0"/>
          </a:p>
          <a:p>
            <a:r>
              <a:rPr dirty="0"/>
              <a:t>Initial EDA (Full Dataset):</a:t>
            </a:r>
          </a:p>
          <a:p>
            <a:pPr lvl="1"/>
            <a:r>
              <a:rPr dirty="0"/>
              <a:t>Analyzed annual data from 2010–2018 for all CoCs</a:t>
            </a:r>
            <a:r>
              <a:rPr lang="en-US" dirty="0"/>
              <a:t> (Continuums of Care)</a:t>
            </a:r>
            <a:endParaRPr dirty="0"/>
          </a:p>
          <a:p>
            <a:pPr lvl="1"/>
            <a:r>
              <a:rPr dirty="0"/>
              <a:t>Focused on understanding distributions, trends, and missing data</a:t>
            </a:r>
            <a:endParaRPr lang="en-US" dirty="0"/>
          </a:p>
          <a:p>
            <a:pPr lvl="1"/>
            <a:r>
              <a:rPr lang="en-US" dirty="0"/>
              <a:t>1159 entries and 121 predictor variables, 123 unique CoCs, and most frequent CoC is MD-505 (Baltimore, Maryland)</a:t>
            </a:r>
            <a:endParaRPr dirty="0"/>
          </a:p>
          <a:p>
            <a:pPr lvl="1"/>
            <a:r>
              <a:rPr lang="en-US" dirty="0"/>
              <a:t>Looked at Correlations and plotted histograms</a:t>
            </a:r>
            <a:endParaRPr dirty="0"/>
          </a:p>
          <a:p>
            <a:endParaRPr dirty="0"/>
          </a:p>
          <a:p>
            <a:r>
              <a:rPr dirty="0"/>
              <a:t>Filtered EDA (Major City &amp; Largely Urban CoCs):</a:t>
            </a:r>
          </a:p>
          <a:p>
            <a:pPr lvl="1"/>
            <a:r>
              <a:rPr dirty="0"/>
              <a:t>342 entries, 38 counties, 198 Major City &amp; 144 Urban CoCs</a:t>
            </a:r>
          </a:p>
          <a:p>
            <a:pPr lvl="1"/>
            <a:r>
              <a:rPr dirty="0"/>
              <a:t>Top CoC by count: AL-501 (Mobile, Alabama)</a:t>
            </a:r>
          </a:p>
          <a:p>
            <a:pPr lvl="1"/>
            <a:r>
              <a:rPr dirty="0"/>
              <a:t>Missingness patterns examined and visualized</a:t>
            </a:r>
          </a:p>
          <a:p>
            <a:pPr lvl="1"/>
            <a:r>
              <a:rPr dirty="0"/>
              <a:t>One-hot encoding of CoC category improved sample size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 – Predicting Homelessness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Target: total_homeless_per_10k</a:t>
            </a:r>
            <a:endParaRPr lang="en-US" dirty="0"/>
          </a:p>
          <a:p>
            <a:r>
              <a:rPr lang="en-US" dirty="0"/>
              <a:t>Random split of dataset</a:t>
            </a:r>
            <a:endParaRPr dirty="0"/>
          </a:p>
          <a:p>
            <a:endParaRPr dirty="0"/>
          </a:p>
          <a:p>
            <a:r>
              <a:rPr dirty="0"/>
              <a:t>Initial Models:</a:t>
            </a:r>
          </a:p>
          <a:p>
            <a:r>
              <a:rPr dirty="0"/>
              <a:t>OLS Regression: R² = 0.13, RMSE = 15.6</a:t>
            </a:r>
          </a:p>
          <a:p>
            <a:r>
              <a:rPr dirty="0"/>
              <a:t>Random Forest: R² = 0.88, RMSE = 5.9</a:t>
            </a:r>
          </a:p>
          <a:p>
            <a:r>
              <a:rPr dirty="0" err="1"/>
              <a:t>XGBoost</a:t>
            </a:r>
            <a:r>
              <a:rPr dirty="0"/>
              <a:t>: R² = 0.89, RMSE = 5.6</a:t>
            </a:r>
          </a:p>
          <a:p>
            <a:endParaRPr dirty="0"/>
          </a:p>
          <a:p>
            <a:r>
              <a:rPr dirty="0"/>
              <a:t>Takeaway:</a:t>
            </a:r>
          </a:p>
          <a:p>
            <a:r>
              <a:rPr dirty="0"/>
              <a:t>Tree-based models outperform linear; all models underpredict high-need counties.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3552C-01DD-4AB9-662F-3AA78EC3B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by side comparison of Residuals vs. Actuals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FEA65B-218A-D9E5-944D-5E21DD1A6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34" y="2122696"/>
            <a:ext cx="8801131" cy="32781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A7FFED-AEC4-AE4A-D04E-82F1738C0F34}"/>
              </a:ext>
            </a:extLst>
          </p:cNvPr>
          <p:cNvSpPr txBox="1"/>
          <p:nvPr/>
        </p:nvSpPr>
        <p:spPr>
          <a:xfrm>
            <a:off x="914400" y="5485170"/>
            <a:ext cx="5062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Note: Fresno and Sonoma counties are significantly underpredicted</a:t>
            </a:r>
          </a:p>
        </p:txBody>
      </p:sp>
    </p:spTree>
    <p:extLst>
      <p:ext uri="{BB962C8B-B14F-4D97-AF65-F5344CB8AC3E}">
        <p14:creationId xmlns:p14="http://schemas.microsoft.com/office/powerpoint/2010/main" val="3055803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 – Improving Validation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Why Update?</a:t>
            </a:r>
          </a:p>
          <a:p>
            <a:r>
              <a:rPr dirty="0"/>
              <a:t>Random splits risk overfitting in panel data.</a:t>
            </a:r>
          </a:p>
          <a:p>
            <a:endParaRPr dirty="0"/>
          </a:p>
          <a:p>
            <a:r>
              <a:rPr dirty="0"/>
              <a:t>New Approach: Cross-Sectional Temporal Split</a:t>
            </a:r>
          </a:p>
          <a:p>
            <a:r>
              <a:rPr dirty="0"/>
              <a:t>Train: 2010–2016, 73 counties</a:t>
            </a:r>
          </a:p>
          <a:p>
            <a:r>
              <a:rPr dirty="0"/>
              <a:t>Validate: 2017</a:t>
            </a:r>
          </a:p>
          <a:p>
            <a:r>
              <a:rPr dirty="0"/>
              <a:t>Test: 2018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I have not used the test data</a:t>
            </a:r>
            <a:endParaRPr dirty="0">
              <a:solidFill>
                <a:srgbClr val="FF0000"/>
              </a:solidFill>
            </a:endParaRPr>
          </a:p>
          <a:p>
            <a:endParaRPr dirty="0"/>
          </a:p>
          <a:p>
            <a:r>
              <a:rPr dirty="0"/>
              <a:t>Result:</a:t>
            </a:r>
          </a:p>
          <a:p>
            <a:r>
              <a:rPr dirty="0" err="1"/>
              <a:t>XGBoost</a:t>
            </a:r>
            <a:r>
              <a:rPr dirty="0"/>
              <a:t> (with one-hot CoC): R² = 0.53, RMSE = 6.8</a:t>
            </a:r>
          </a:p>
          <a:p>
            <a:r>
              <a:rPr dirty="0"/>
              <a:t>Consistent underprediction in counties like King </a:t>
            </a:r>
            <a:r>
              <a:rPr lang="en-US" dirty="0"/>
              <a:t>County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7164A-9090-8BA7-292D-42FB340E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328" y="267048"/>
            <a:ext cx="6571343" cy="1049235"/>
          </a:xfrm>
        </p:spPr>
        <p:txBody>
          <a:bodyPr/>
          <a:lstStyle/>
          <a:p>
            <a:r>
              <a:rPr lang="en-US" dirty="0"/>
              <a:t>Predicted vs Actual plots</a:t>
            </a:r>
            <a:br>
              <a:rPr lang="en-US" dirty="0"/>
            </a:br>
            <a:r>
              <a:rPr lang="en-US" sz="1800" dirty="0"/>
              <a:t>With cross-sectional temporal dataset split and one-hot encode CoC category</a:t>
            </a:r>
            <a:endParaRPr lang="en-US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8" y="1855435"/>
            <a:ext cx="2827229" cy="25854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710" y="2412188"/>
            <a:ext cx="2825496" cy="22684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689" y="3429000"/>
            <a:ext cx="2825496" cy="22684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99AA4F-B2FA-27A6-0C7D-21ED9F3CE7DA}"/>
              </a:ext>
            </a:extLst>
          </p:cNvPr>
          <p:cNvSpPr txBox="1"/>
          <p:nvPr/>
        </p:nvSpPr>
        <p:spPr>
          <a:xfrm>
            <a:off x="186431" y="5424256"/>
            <a:ext cx="4569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Counties like King County with extreme</a:t>
            </a:r>
            <a:br>
              <a:rPr lang="en-US" dirty="0"/>
            </a:br>
            <a:r>
              <a:rPr lang="en-US" dirty="0"/>
              <a:t>homelessness are underpredicted.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ACC2EBF-B998-6117-EBF3-5E3ABA1381EE}"/>
              </a:ext>
            </a:extLst>
          </p:cNvPr>
          <p:cNvSpPr/>
          <p:nvPr/>
        </p:nvSpPr>
        <p:spPr>
          <a:xfrm>
            <a:off x="2509834" y="2822713"/>
            <a:ext cx="447243" cy="27829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A07B25A-5461-9211-FDA1-0CB1B72B850E}"/>
              </a:ext>
            </a:extLst>
          </p:cNvPr>
          <p:cNvSpPr/>
          <p:nvPr/>
        </p:nvSpPr>
        <p:spPr>
          <a:xfrm>
            <a:off x="5467301" y="3101009"/>
            <a:ext cx="447243" cy="27829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7B3425-DBB5-8D8D-97B5-57E675892471}"/>
              </a:ext>
            </a:extLst>
          </p:cNvPr>
          <p:cNvSpPr/>
          <p:nvPr/>
        </p:nvSpPr>
        <p:spPr>
          <a:xfrm>
            <a:off x="8400425" y="4222143"/>
            <a:ext cx="447243" cy="27829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417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 – Predicting % Change in Homelessness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Target: % change in total_homeless_per_10k</a:t>
            </a:r>
          </a:p>
          <a:p>
            <a:endParaRPr dirty="0"/>
          </a:p>
          <a:p>
            <a:r>
              <a:rPr dirty="0"/>
              <a:t>Initial Results (OLS &amp; RF):</a:t>
            </a:r>
          </a:p>
          <a:p>
            <a:r>
              <a:rPr dirty="0"/>
              <a:t>R² &lt; 0, RMSE &gt; baseline</a:t>
            </a:r>
          </a:p>
          <a:p>
            <a:r>
              <a:rPr dirty="0"/>
              <a:t>Poor generalization</a:t>
            </a:r>
          </a:p>
          <a:p>
            <a:endParaRPr dirty="0"/>
          </a:p>
          <a:p>
            <a:r>
              <a:rPr lang="en-US" dirty="0"/>
              <a:t>Decided to e</a:t>
            </a:r>
            <a:r>
              <a:rPr dirty="0"/>
              <a:t>xplore classification instead of regression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C6826-986B-FF63-B8B3-C4B3589F6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prediction Vs Actual Random forest (regression)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80D93-2643-292D-C3A8-63BA02353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91" y="1966866"/>
            <a:ext cx="3892804" cy="29072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700E9D-504D-5F02-67DD-F355BDDEABC8}"/>
              </a:ext>
            </a:extLst>
          </p:cNvPr>
          <p:cNvSpPr txBox="1"/>
          <p:nvPr/>
        </p:nvSpPr>
        <p:spPr>
          <a:xfrm>
            <a:off x="1443491" y="5141680"/>
            <a:ext cx="59348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Looks like model is underfitting because most predictions cluster near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When actual homelessness increases, the model underestimates how much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There is no strong linear trend between actual and predicted values</a:t>
            </a:r>
          </a:p>
        </p:txBody>
      </p:sp>
    </p:spTree>
    <p:extLst>
      <p:ext uri="{BB962C8B-B14F-4D97-AF65-F5344CB8AC3E}">
        <p14:creationId xmlns:p14="http://schemas.microsoft.com/office/powerpoint/2010/main" val="1784143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Task 3 – Binary Classification</a:t>
            </a:r>
            <a:br>
              <a:rPr lang="en-US" dirty="0"/>
            </a:br>
            <a:r>
              <a:rPr lang="en-US" dirty="0"/>
              <a:t>Initial attempt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Objective: Classify whether homelessness increased year-over-year</a:t>
            </a:r>
          </a:p>
          <a:p>
            <a:endParaRPr dirty="0"/>
          </a:p>
          <a:p>
            <a:r>
              <a:rPr dirty="0"/>
              <a:t>Initial Results:</a:t>
            </a:r>
          </a:p>
          <a:p>
            <a:r>
              <a:rPr dirty="0"/>
              <a:t>Accuracy ~ 4</a:t>
            </a:r>
            <a:r>
              <a:rPr lang="en-US" dirty="0"/>
              <a:t>8</a:t>
            </a:r>
            <a:r>
              <a:rPr dirty="0"/>
              <a:t>–5</a:t>
            </a:r>
            <a:r>
              <a:rPr lang="en-US" dirty="0"/>
              <a:t>2</a:t>
            </a:r>
            <a:r>
              <a:rPr dirty="0"/>
              <a:t>%</a:t>
            </a:r>
            <a:endParaRPr lang="en-US" dirty="0"/>
          </a:p>
          <a:p>
            <a:r>
              <a:rPr lang="en-US" dirty="0"/>
              <a:t>Filtering for Major City and Largely Urban CoCs</a:t>
            </a:r>
          </a:p>
          <a:p>
            <a:r>
              <a:rPr lang="en-US" dirty="0"/>
              <a:t>Random splitting of the dataset</a:t>
            </a:r>
            <a:endParaRPr dirty="0"/>
          </a:p>
          <a:p>
            <a:r>
              <a:rPr dirty="0"/>
              <a:t>Class imbalance &amp; small sample size affect performance</a:t>
            </a:r>
          </a:p>
          <a:p>
            <a:r>
              <a:rPr lang="en-US" dirty="0"/>
              <a:t>All models struggle to capture increases in homelessness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7261E-2D24-565E-095D-D6B73354B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confusion matrices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2" y="2351715"/>
            <a:ext cx="2695037" cy="215456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71" y="2358493"/>
            <a:ext cx="2697480" cy="214779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921" y="2308216"/>
            <a:ext cx="2697480" cy="22415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8AF17C-3238-9ACB-26FC-F0215A37C9C8}"/>
              </a:ext>
            </a:extLst>
          </p:cNvPr>
          <p:cNvSpPr txBox="1"/>
          <p:nvPr/>
        </p:nvSpPr>
        <p:spPr>
          <a:xfrm>
            <a:off x="652006" y="5200153"/>
            <a:ext cx="6202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All models struggle to capture increases in homelessness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953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 – Lagged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6571343" cy="3900037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Why Lag Features?</a:t>
            </a:r>
          </a:p>
          <a:p>
            <a:r>
              <a:rPr dirty="0"/>
              <a:t>Homelessness in prior years likely influences current rates.</a:t>
            </a:r>
          </a:p>
          <a:p>
            <a:r>
              <a:rPr dirty="0"/>
              <a:t>Features Added:</a:t>
            </a:r>
          </a:p>
          <a:p>
            <a:r>
              <a:rPr dirty="0"/>
              <a:t>Prior-year values for homelessness, housing market, economic indicators</a:t>
            </a:r>
            <a:endParaRPr lang="en-US" dirty="0"/>
          </a:p>
          <a:p>
            <a:r>
              <a:rPr lang="en-US" dirty="0"/>
              <a:t>Binary Classification</a:t>
            </a:r>
            <a:endParaRPr dirty="0"/>
          </a:p>
          <a:p>
            <a:r>
              <a:rPr dirty="0"/>
              <a:t>Addressed missingness with custom imputation strategy</a:t>
            </a:r>
            <a:endParaRPr lang="en-US" dirty="0"/>
          </a:p>
          <a:p>
            <a:pPr lvl="1"/>
            <a:r>
              <a:rPr lang="en-US" dirty="0">
                <a:effectLst/>
              </a:rPr>
              <a:t>Columns with ≤ 20% missingness are median-imputed directly</a:t>
            </a:r>
          </a:p>
          <a:p>
            <a:pPr lvl="1"/>
            <a:r>
              <a:rPr lang="en-US" dirty="0">
                <a:effectLst/>
              </a:rPr>
              <a:t>Columns with &gt; 50% missingness are median-imputed with an additional _missing binary indicator</a:t>
            </a:r>
          </a:p>
          <a:p>
            <a:pPr lvl="1"/>
            <a:r>
              <a:rPr lang="en-US" sz="1700" dirty="0">
                <a:effectLst/>
              </a:rPr>
              <a:t>Columns with 20–50% missingness are left unchanged</a:t>
            </a:r>
            <a:endParaRPr lang="en-US" dirty="0">
              <a:effectLst/>
            </a:endParaRPr>
          </a:p>
          <a:p>
            <a:pPr lvl="1"/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Task 3 – Model Evaluation (Lagged + One-Hot</a:t>
            </a:r>
            <a:r>
              <a:rPr lang="en-US" dirty="0"/>
              <a:t> + Imputed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Setup:</a:t>
            </a:r>
          </a:p>
          <a:p>
            <a:r>
              <a:rPr dirty="0"/>
              <a:t>Train: </a:t>
            </a:r>
            <a:r>
              <a:rPr lang="en-US" dirty="0"/>
              <a:t>303 rows, 73 counties (</a:t>
            </a:r>
            <a:r>
              <a:rPr dirty="0"/>
              <a:t>2012–2016</a:t>
            </a:r>
            <a:r>
              <a:rPr lang="en-US" dirty="0"/>
              <a:t>)</a:t>
            </a:r>
            <a:r>
              <a:rPr dirty="0"/>
              <a:t> | Val: </a:t>
            </a:r>
            <a:r>
              <a:rPr lang="en-US" dirty="0"/>
              <a:t>25 rows, 25 counties (</a:t>
            </a:r>
            <a:r>
              <a:rPr dirty="0"/>
              <a:t>2017</a:t>
            </a:r>
            <a:r>
              <a:rPr lang="en-US" dirty="0"/>
              <a:t>)</a:t>
            </a:r>
            <a:r>
              <a:rPr dirty="0"/>
              <a:t> | Test: </a:t>
            </a:r>
            <a:r>
              <a:rPr lang="en-US" dirty="0"/>
              <a:t>26 rows, 25 counties (</a:t>
            </a:r>
            <a:r>
              <a:rPr dirty="0"/>
              <a:t>2018</a:t>
            </a:r>
            <a:r>
              <a:rPr lang="en-US" dirty="0"/>
              <a:t>)</a:t>
            </a:r>
            <a:endParaRPr dirty="0"/>
          </a:p>
          <a:p>
            <a:r>
              <a:rPr dirty="0"/>
              <a:t>CoC one-hot encoded</a:t>
            </a:r>
          </a:p>
          <a:p>
            <a:endParaRPr dirty="0"/>
          </a:p>
          <a:p>
            <a:r>
              <a:rPr dirty="0"/>
              <a:t>Results (Top 5 Features):</a:t>
            </a:r>
          </a:p>
          <a:p>
            <a:r>
              <a:rPr dirty="0"/>
              <a:t>Logistic Regression: Accuracy = 40%, AUC = 0.44</a:t>
            </a:r>
          </a:p>
          <a:p>
            <a:r>
              <a:rPr dirty="0"/>
              <a:t>Random Forest: Accuracy = 40%, AUC = 0.42</a:t>
            </a:r>
          </a:p>
          <a:p>
            <a:r>
              <a:rPr dirty="0" err="1"/>
              <a:t>XGBoost</a:t>
            </a:r>
            <a:r>
              <a:rPr dirty="0"/>
              <a:t>: Accuracy = 44%, AUC = 0.46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F03C6-9D42-1A28-BF47-CC30F0543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curves: Full dataset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462" y="1919689"/>
            <a:ext cx="2745363" cy="20503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9" y="1950575"/>
            <a:ext cx="2745363" cy="20503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098" y="1952654"/>
            <a:ext cx="2742580" cy="20482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356602-52DF-D5A3-B056-E46BA7032340}"/>
              </a:ext>
            </a:extLst>
          </p:cNvPr>
          <p:cNvSpPr txBox="1"/>
          <p:nvPr/>
        </p:nvSpPr>
        <p:spPr>
          <a:xfrm>
            <a:off x="63610" y="4301655"/>
            <a:ext cx="86430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Logistic Regression: </a:t>
            </a:r>
            <a:r>
              <a:rPr lang="en-US" sz="1600" dirty="0">
                <a:effectLst/>
              </a:rPr>
              <a:t>The model fails to generalize and performs no better than random guessing.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Random Forest: </a:t>
            </a:r>
            <a:r>
              <a:rPr lang="en-US" sz="1600" dirty="0">
                <a:effectLst/>
              </a:rPr>
              <a:t>Performs worse than logistic regression, particularly in identifying increases (recall: .07).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XGBoost</a:t>
            </a:r>
            <a:r>
              <a:rPr lang="en-US" sz="1600" dirty="0"/>
              <a:t>:</a:t>
            </a:r>
            <a:r>
              <a:rPr lang="en-US" sz="1400" dirty="0"/>
              <a:t> Had </a:t>
            </a:r>
            <a:r>
              <a:rPr lang="en-US" sz="1600" dirty="0"/>
              <a:t>b</a:t>
            </a:r>
            <a:r>
              <a:rPr lang="en-US" sz="1600" dirty="0">
                <a:effectLst/>
              </a:rPr>
              <a:t>est precision (0.50), but recall (0.21) remains low and model struggles with discrimination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617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8BBEB-0DC9-875E-6B64-AAFA8522D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Curves: top 5 features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01" y="2039019"/>
            <a:ext cx="2742580" cy="204825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314" y="2042047"/>
            <a:ext cx="2742580" cy="204825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427" y="2042047"/>
            <a:ext cx="2742580" cy="20482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D2DFE9-1B8D-898A-205A-4692E38503AF}"/>
              </a:ext>
            </a:extLst>
          </p:cNvPr>
          <p:cNvSpPr txBox="1"/>
          <p:nvPr/>
        </p:nvSpPr>
        <p:spPr>
          <a:xfrm>
            <a:off x="63610" y="4301655"/>
            <a:ext cx="86430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Logistic Regression: </a:t>
            </a:r>
            <a:r>
              <a:rPr lang="en-US" sz="1600" dirty="0">
                <a:effectLst/>
              </a:rPr>
              <a:t>Simpler model performs similarly; top 5 features did not improve generalization</a:t>
            </a:r>
            <a:r>
              <a:rPr lang="en-US" sz="1400" dirty="0">
                <a:effectLst/>
              </a:rPr>
              <a:t>.</a:t>
            </a:r>
            <a:endParaRPr lang="en-US" sz="16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Random Forest: </a:t>
            </a:r>
            <a:r>
              <a:rPr lang="en-US" sz="1600" dirty="0">
                <a:effectLst/>
              </a:rPr>
              <a:t>Substantially more stable than the full model, but still underperforms.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XGBoost</a:t>
            </a:r>
            <a:r>
              <a:rPr lang="en-US" sz="1600" dirty="0"/>
              <a:t>:</a:t>
            </a:r>
            <a:r>
              <a:rPr lang="en-US" sz="1400" dirty="0"/>
              <a:t> </a:t>
            </a:r>
            <a:r>
              <a:rPr lang="en-US" sz="1600" dirty="0"/>
              <a:t>Best balance of performance among all models. Precision (0.50) and F1 (0.42) are highest for the increase class, though AUC remains under 0.50</a:t>
            </a:r>
            <a:r>
              <a:rPr lang="en-US" sz="140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25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XGBoost</a:t>
            </a:r>
            <a:r>
              <a:rPr dirty="0"/>
              <a:t> consistently outperforms other models</a:t>
            </a:r>
          </a:p>
          <a:p>
            <a:r>
              <a:rPr dirty="0"/>
              <a:t>Underprediction in high-rate counties remains a challenge</a:t>
            </a:r>
          </a:p>
          <a:p>
            <a:r>
              <a:rPr dirty="0"/>
              <a:t>Cross-sectional temporal split gives </a:t>
            </a:r>
            <a:r>
              <a:rPr lang="en-US" dirty="0"/>
              <a:t>more </a:t>
            </a:r>
            <a:r>
              <a:rPr dirty="0"/>
              <a:t>realistic estimates</a:t>
            </a:r>
          </a:p>
          <a:p>
            <a:r>
              <a:rPr dirty="0"/>
              <a:t>Lagged features show </a:t>
            </a:r>
            <a:r>
              <a:rPr lang="en-US" dirty="0"/>
              <a:t>some </a:t>
            </a:r>
            <a:r>
              <a:rPr dirty="0"/>
              <a:t>promise, need further refinement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Explore feature selection and model calibration</a:t>
            </a:r>
          </a:p>
          <a:p>
            <a:r>
              <a:rPr lang="en-US" dirty="0"/>
              <a:t>Look further into the</a:t>
            </a:r>
            <a:r>
              <a:rPr dirty="0"/>
              <a:t> class imbalance in classification</a:t>
            </a:r>
          </a:p>
          <a:p>
            <a:r>
              <a:rPr dirty="0"/>
              <a:t>Investigate structural or policy-level features</a:t>
            </a:r>
          </a:p>
          <a:p>
            <a:r>
              <a:rPr dirty="0"/>
              <a:t>Refine lagged feature modeling for Task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or suggestions welcome!</a:t>
            </a:r>
          </a:p>
          <a:p>
            <a:r>
              <a:t>Ready to incorporate feedback and discuss next directions.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769</TotalTime>
  <Words>905</Words>
  <Application>Microsoft Office PowerPoint</Application>
  <PresentationFormat>On-screen Show (4:3)</PresentationFormat>
  <Paragraphs>117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Gill Sans MT</vt:lpstr>
      <vt:lpstr>Gallery</vt:lpstr>
      <vt:lpstr>Modeling Homelessness Trends Using Community and Economic Data</vt:lpstr>
      <vt:lpstr>Project Overview</vt:lpstr>
      <vt:lpstr>Task 1 – Exploratory Data Analysis</vt:lpstr>
      <vt:lpstr>Task 2 – Predicting Homelessness Rate</vt:lpstr>
      <vt:lpstr>Side by side comparison of Residuals vs. Actuals</vt:lpstr>
      <vt:lpstr>Task 2 – Improving Validation Strategy</vt:lpstr>
      <vt:lpstr>Predicted vs Actual plots With cross-sectional temporal dataset split and one-hot encode CoC category</vt:lpstr>
      <vt:lpstr>Task 3 – Predicting % Change in Homelessness</vt:lpstr>
      <vt:lpstr>Plot prediction Vs Actual Random forest (regression)</vt:lpstr>
      <vt:lpstr>Task 3 – Binary Classification Initial attempt</vt:lpstr>
      <vt:lpstr>Model confusion matrices</vt:lpstr>
      <vt:lpstr>Task 3 – Lagged Feature Engineering</vt:lpstr>
      <vt:lpstr>Task 3 – Model Evaluation (Lagged + One-Hot + Imputed)</vt:lpstr>
      <vt:lpstr>ROC curves: Full dataset</vt:lpstr>
      <vt:lpstr>ROC Curves: top 5 features</vt:lpstr>
      <vt:lpstr>Summary of Findings</vt:lpstr>
      <vt:lpstr>Next Steps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Amina Gonzalez</cp:lastModifiedBy>
  <cp:revision>20</cp:revision>
  <dcterms:created xsi:type="dcterms:W3CDTF">2013-01-27T09:14:16Z</dcterms:created>
  <dcterms:modified xsi:type="dcterms:W3CDTF">2025-06-02T22:58:17Z</dcterms:modified>
  <cp:category/>
</cp:coreProperties>
</file>